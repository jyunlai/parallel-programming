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y="5143500" cx="9144000"/>
  <p:notesSz cx="6858000" cy="9144000"/>
  <p:embeddedFontLst>
    <p:embeddedFont>
      <p:font typeface="Ovo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F9B1171-95F4-4C10-957B-F0678B0CC7C2}">
  <a:tblStyle styleId="{2F9B1171-95F4-4C10-957B-F0678B0CC7C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5" Type="http://schemas.openxmlformats.org/officeDocument/2006/relationships/font" Target="fonts/Ov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b40292ae0_1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26b40292ae0_1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6b40292ae0_1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26b40292ae0_1_8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c156176ad6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solidFill>
                  <a:schemeClr val="dk1"/>
                </a:solidFill>
              </a:rPr>
              <a:t>用 CA 來模擬晶粒成長 / 再結晶的演化</a:t>
            </a:r>
            <a:endParaRPr/>
          </a:p>
        </p:txBody>
      </p:sp>
      <p:sp>
        <p:nvSpPr>
          <p:cNvPr id="139" name="Google Shape;139;g2c156176ad6_0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156176ad6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2c156176ad6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c156176ad6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2c156176ad6_0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62d48ecdf_2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a62d48ecdf_2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62d48ecdf_2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a62d48ecdf_2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6b40292ae0_2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26b40292ae0_2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62d48ecdf_2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a62d48ecdf_2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62d48ecdf_2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a62d48ecdf_2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f8af3382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因為工作站的CUDA驅動版本太舊不支援編譯器的版本，所以我們改成在colab 上面用T4 GPU來測試</a:t>
            </a:r>
            <a:endParaRPr/>
          </a:p>
        </p:txBody>
      </p:sp>
      <p:sp>
        <p:nvSpPr>
          <p:cNvPr id="198" name="Google Shape;198;g3af8af33828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c156176ad6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2c156176ad6_0_1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a62d48ecdf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a62d48ecdf_2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a62d48ecdf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CUDA</a:t>
            </a:r>
            <a:r>
              <a:rPr lang="zh-TW"/>
              <a:t>也要測不同INPUT SIZE嗎</a:t>
            </a:r>
            <a:endParaRPr/>
          </a:p>
        </p:txBody>
      </p:sp>
      <p:sp>
        <p:nvSpPr>
          <p:cNvPr id="221" name="Google Shape;221;g3a62d48ecdf_2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a62d48ecdf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a62d48ecdf_2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c156176ad6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g2c156176ad6_0_1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6b40292ae0_1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6b40292ae0_1_25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indent="-3048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indent="-2921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b="1" sz="10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b="1" sz="8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048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indent="-2921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indent="-2794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indent="-2794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indent="-2794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indent="-2794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indent="-2794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indent="-2794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indent="-3048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2921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indent="-2921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indent="-2921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indent="-2921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indent="-2921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indent="-2921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22850" lIns="45725" spcFirstLastPara="1" rIns="45725" wrap="square" tIns="228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28600" lvl="0" marL="457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indent="-228600" lvl="1" marL="914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indent="-228600" lvl="2" marL="1371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28575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indent="-28575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indent="-28575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indent="-28575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indent="-28575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indent="-28575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indent="-28575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indent="-28575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indent="-28575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45725" spcFirstLastPara="1" rIns="45725" wrap="square" tIns="22850">
            <a:normAutofit/>
          </a:bodyPr>
          <a:lstStyle>
            <a:lvl1pPr indent="-330200" lvl="0" marL="457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100" lvl="3" marL="1828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100" lvl="4" marL="22860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100" lvl="5" marL="27432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100" lvl="6" marL="32004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100" lvl="7" marL="3657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100" lvl="8" marL="41148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7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22850" lIns="45725" spcFirstLastPara="1" rIns="45725" wrap="square" tIns="228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/>
        </p:nvSpPr>
        <p:spPr>
          <a:xfrm>
            <a:off x="902275" y="1215725"/>
            <a:ext cx="7561800" cy="21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44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Parallelization of Full-Field Reorientation in Microstructure Evolution</a:t>
            </a:r>
            <a:endParaRPr b="1" sz="100"/>
          </a:p>
        </p:txBody>
      </p:sp>
      <p:sp>
        <p:nvSpPr>
          <p:cNvPr id="130" name="Google Shape;130;p25"/>
          <p:cNvSpPr txBox="1"/>
          <p:nvPr/>
        </p:nvSpPr>
        <p:spPr>
          <a:xfrm>
            <a:off x="1247873" y="3573768"/>
            <a:ext cx="6870600" cy="6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Ovo"/>
                <a:ea typeface="Ovo"/>
                <a:cs typeface="Ovo"/>
                <a:sym typeface="Ovo"/>
              </a:rPr>
              <a:t>Group 20</a:t>
            </a:r>
            <a:endParaRPr sz="18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latin typeface="Ovo"/>
                <a:ea typeface="Ovo"/>
                <a:cs typeface="Ovo"/>
                <a:sym typeface="Ovo"/>
              </a:rPr>
              <a:t>314553031 賴均  314581003 林奇毅 314551115 楊淳嵋</a:t>
            </a:r>
            <a:endParaRPr sz="18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781050" y="38452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Outline</a:t>
            </a:r>
            <a:endParaRPr sz="700"/>
          </a:p>
        </p:txBody>
      </p:sp>
      <p:sp>
        <p:nvSpPr>
          <p:cNvPr id="136" name="Google Shape;136;p26"/>
          <p:cNvSpPr txBox="1"/>
          <p:nvPr/>
        </p:nvSpPr>
        <p:spPr>
          <a:xfrm>
            <a:off x="1035050" y="1182075"/>
            <a:ext cx="67113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Introduction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Motivation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Problem Statement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Methodology and Challenges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Experiment and Evalution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Conclusion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Contribution</a:t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/>
        </p:nvSpPr>
        <p:spPr>
          <a:xfrm>
            <a:off x="781050" y="3929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Introduction</a:t>
            </a:r>
            <a:endParaRPr sz="700"/>
          </a:p>
        </p:txBody>
      </p:sp>
      <p:sp>
        <p:nvSpPr>
          <p:cNvPr id="142" name="Google Shape;142;p27"/>
          <p:cNvSpPr txBox="1"/>
          <p:nvPr/>
        </p:nvSpPr>
        <p:spPr>
          <a:xfrm>
            <a:off x="781050" y="1137575"/>
            <a:ext cx="783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CA-based recrystallization model. for each simulation step: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Scanning: Identify interface cell.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Energy computation: For each interface cell, evaluate ΔE to all neighbours.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State update: Each cell takes the neighbour with the largest energy drop, defining the local boundary motion.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43" name="Google Shape;143;p27" title="6.png"/>
          <p:cNvPicPr preferRelativeResize="0"/>
          <p:nvPr/>
        </p:nvPicPr>
        <p:blipFill rotWithShape="1">
          <a:blip r:embed="rId3">
            <a:alphaModFix/>
          </a:blip>
          <a:srcRect b="0" l="0" r="30642" t="7697"/>
          <a:stretch/>
        </p:blipFill>
        <p:spPr>
          <a:xfrm>
            <a:off x="2647311" y="2848075"/>
            <a:ext cx="3849374" cy="229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Motivation and Observation </a:t>
            </a:r>
            <a:endParaRPr sz="700"/>
          </a:p>
        </p:txBody>
      </p:sp>
      <p:sp>
        <p:nvSpPr>
          <p:cNvPr id="149" name="Google Shape;149;p28"/>
          <p:cNvSpPr txBox="1"/>
          <p:nvPr/>
        </p:nvSpPr>
        <p:spPr>
          <a:xfrm>
            <a:off x="781050" y="1268400"/>
            <a:ext cx="7431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Overcoming </a:t>
            </a:r>
            <a:r>
              <a:rPr lang="zh-TW" sz="1500">
                <a:latin typeface="Ovo"/>
                <a:ea typeface="Ovo"/>
                <a:cs typeface="Ovo"/>
                <a:sym typeface="Ovo"/>
              </a:rPr>
              <a:t>performance bottlenecks and improve scalability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Main bottleneck: Energy computation+State update accounts for ≈ 87% of the total runtime. (</a:t>
            </a:r>
            <a:r>
              <a:rPr lang="zh-TW" sz="1500">
                <a:latin typeface="Ovo"/>
                <a:ea typeface="Ovo"/>
                <a:cs typeface="Ovo"/>
                <a:sym typeface="Ovo"/>
              </a:rPr>
              <a:t>perf</a:t>
            </a:r>
            <a:r>
              <a:rPr lang="zh-TW" sz="1500">
                <a:latin typeface="Ovo"/>
                <a:ea typeface="Ovo"/>
                <a:cs typeface="Ovo"/>
                <a:sym typeface="Ovo"/>
              </a:rPr>
              <a:t>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This kernel is naturally parallel: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Independent updates per interface cell 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Minimal global state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grpSp>
        <p:nvGrpSpPr>
          <p:cNvPr id="150" name="Google Shape;150;p28"/>
          <p:cNvGrpSpPr/>
          <p:nvPr/>
        </p:nvGrpSpPr>
        <p:grpSpPr>
          <a:xfrm>
            <a:off x="3595275" y="3009849"/>
            <a:ext cx="5548800" cy="1914951"/>
            <a:chOff x="3791850" y="3095599"/>
            <a:chExt cx="5548800" cy="1914951"/>
          </a:xfrm>
        </p:grpSpPr>
        <p:pic>
          <p:nvPicPr>
            <p:cNvPr id="151" name="Google Shape;151;p28" title="LatticeStructure_Time_4_Map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560916" y="3095610"/>
              <a:ext cx="1525854" cy="153183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8" title="LatticeStructure_Time_6_Map.png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14579" y="3095599"/>
              <a:ext cx="1525854" cy="153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28"/>
            <p:cNvSpPr txBox="1"/>
            <p:nvPr/>
          </p:nvSpPr>
          <p:spPr>
            <a:xfrm>
              <a:off x="3791850" y="4627450"/>
              <a:ext cx="55488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50" lIns="81250" spcFirstLastPara="1" rIns="81250" wrap="square" tIns="812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22">
                  <a:solidFill>
                    <a:schemeClr val="dk1"/>
                  </a:solidFill>
                  <a:latin typeface="Ovo"/>
                  <a:ea typeface="Ovo"/>
                  <a:cs typeface="Ovo"/>
                  <a:sym typeface="Ovo"/>
                </a:rPr>
                <a:t>Over an hour of CPU time for only 2 seconds of physical time</a:t>
              </a:r>
              <a:endParaRPr sz="1422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endParaRPr>
            </a:p>
          </p:txBody>
        </p:sp>
        <p:sp>
          <p:nvSpPr>
            <p:cNvPr id="154" name="Google Shape;154;p28"/>
            <p:cNvSpPr txBox="1"/>
            <p:nvPr/>
          </p:nvSpPr>
          <p:spPr>
            <a:xfrm>
              <a:off x="6112848" y="3722052"/>
              <a:ext cx="541800" cy="38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250" lIns="81250" spcFirstLastPara="1" rIns="81250" wrap="square" tIns="8125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42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→</a:t>
              </a:r>
              <a:endParaRPr sz="142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Problem statement</a:t>
            </a:r>
            <a:endParaRPr sz="700"/>
          </a:p>
        </p:txBody>
      </p:sp>
      <p:sp>
        <p:nvSpPr>
          <p:cNvPr id="160" name="Google Shape;160;p29"/>
          <p:cNvSpPr txBox="1"/>
          <p:nvPr/>
        </p:nvSpPr>
        <p:spPr>
          <a:xfrm>
            <a:off x="781050" y="1192200"/>
            <a:ext cx="77181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 Data Structure Constraint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Interface cell indices are stored in a std::set&lt;int&gt; for fast updates and deduplication.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However,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 std::set&lt;int&gt; </a:t>
            </a:r>
            <a:r>
              <a:rPr lang="zh-TW" sz="1500">
                <a:latin typeface="Ovo"/>
                <a:ea typeface="Ovo"/>
                <a:cs typeface="Ovo"/>
                <a:sym typeface="Ovo"/>
              </a:rPr>
              <a:t>only provides bidirectional iterators, which makes it hard to partition interface cells evenly across threads.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Serialization Bottleneck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The current kernel is purely serial, so our goal is to parallelize it so that multiple cores each process a subset of the interface indices.</a:t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0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Methodology</a:t>
            </a:r>
            <a:endParaRPr sz="700"/>
          </a:p>
        </p:txBody>
      </p:sp>
      <p:sp>
        <p:nvSpPr>
          <p:cNvPr id="166" name="Google Shape;166;p30"/>
          <p:cNvSpPr txBox="1"/>
          <p:nvPr/>
        </p:nvSpPr>
        <p:spPr>
          <a:xfrm>
            <a:off x="781050" y="1303325"/>
            <a:ext cx="81897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Data Structure Conversion (for OpenMP)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Keep std::set&lt;int&gt; for updates, but before the kernel flatten it into a std::vector&lt;int&gt;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The copying overhead is negligible: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67" name="Google Shape;167;p30" title="螢幕擷取畫面 2025-12-09 1705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975" y="2344325"/>
            <a:ext cx="3743845" cy="83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Methodology </a:t>
            </a:r>
            <a:endParaRPr sz="700"/>
          </a:p>
        </p:txBody>
      </p:sp>
      <p:sp>
        <p:nvSpPr>
          <p:cNvPr id="173" name="Google Shape;173;p31"/>
          <p:cNvSpPr txBox="1"/>
          <p:nvPr/>
        </p:nvSpPr>
        <p:spPr>
          <a:xfrm>
            <a:off x="781050" y="1192200"/>
            <a:ext cx="81897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Data-Level Parallelism and Multiple Backends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graphicFrame>
        <p:nvGraphicFramePr>
          <p:cNvPr id="174" name="Google Shape;174;p31"/>
          <p:cNvGraphicFramePr/>
          <p:nvPr/>
        </p:nvGraphicFramePr>
        <p:xfrm>
          <a:off x="952500" y="180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{2F9B1171-95F4-4C10-957B-F0678B0CC7C2}</a:tableStyleId>
              </a:tblPr>
              <a:tblGrid>
                <a:gridCol w="1587875"/>
                <a:gridCol w="1174725"/>
                <a:gridCol w="5065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Ovo"/>
                          <a:ea typeface="Ovo"/>
                          <a:cs typeface="Ovo"/>
                          <a:sym typeface="Ovo"/>
                        </a:rPr>
                        <a:t>Method</a:t>
                      </a:r>
                      <a:endParaRPr b="1"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Ovo"/>
                          <a:ea typeface="Ovo"/>
                          <a:cs typeface="Ovo"/>
                          <a:sym typeface="Ovo"/>
                        </a:rPr>
                        <a:t>Role</a:t>
                      </a:r>
                      <a:endParaRPr b="1"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Ovo"/>
                          <a:ea typeface="Ovo"/>
                          <a:cs typeface="Ovo"/>
                          <a:sym typeface="Ovo"/>
                        </a:rPr>
                        <a:t>Reasoning</a:t>
                      </a:r>
                      <a:endParaRPr b="1"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Ovo"/>
                          <a:ea typeface="Ovo"/>
                          <a:cs typeface="Ovo"/>
                          <a:sym typeface="Ovo"/>
                        </a:rPr>
                        <a:t>OpenMP</a:t>
                      </a:r>
                      <a:endParaRPr b="1"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Ovo"/>
                          <a:ea typeface="Ovo"/>
                          <a:cs typeface="Ovo"/>
                          <a:sym typeface="Ovo"/>
                        </a:rPr>
                        <a:t>Primary</a:t>
                      </a:r>
                      <a:endParaRPr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Ovo"/>
                          <a:ea typeface="Ovo"/>
                          <a:cs typeface="Ovo"/>
                          <a:sym typeface="Ovo"/>
                        </a:rPr>
                        <a:t>Easy to integrate with the existing C++ codebase; low development cost.</a:t>
                      </a:r>
                      <a:endParaRPr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Ovo"/>
                          <a:ea typeface="Ovo"/>
                          <a:cs typeface="Ovo"/>
                          <a:sym typeface="Ovo"/>
                        </a:rPr>
                        <a:t>Pthreads</a:t>
                      </a:r>
                      <a:endParaRPr b="1"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Ovo"/>
                          <a:ea typeface="Ovo"/>
                          <a:cs typeface="Ovo"/>
                          <a:sym typeface="Ovo"/>
                        </a:rPr>
                        <a:t>Baseline</a:t>
                      </a:r>
                      <a:endParaRPr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Ovo"/>
                          <a:ea typeface="Ovo"/>
                          <a:cs typeface="Ovo"/>
                          <a:sym typeface="Ovo"/>
                        </a:rPr>
                        <a:t>A low-level CPU implementation to understand raw threading overhead and serve as a baseline for OpenMP.</a:t>
                      </a:r>
                      <a:endParaRPr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>
                          <a:latin typeface="Ovo"/>
                          <a:ea typeface="Ovo"/>
                          <a:cs typeface="Ovo"/>
                          <a:sym typeface="Ovo"/>
                        </a:rPr>
                        <a:t>CUDA</a:t>
                      </a:r>
                      <a:endParaRPr b="1"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Ovo"/>
                          <a:ea typeface="Ovo"/>
                          <a:cs typeface="Ovo"/>
                          <a:sym typeface="Ovo"/>
                        </a:rPr>
                        <a:t>Exploration</a:t>
                      </a:r>
                      <a:endParaRPr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latin typeface="Ovo"/>
                          <a:ea typeface="Ovo"/>
                          <a:cs typeface="Ovo"/>
                          <a:sym typeface="Ovo"/>
                        </a:rPr>
                        <a:t>A GPU version to offload massive parallel calculations and explore the maximum achievable speedup.</a:t>
                      </a:r>
                      <a:endParaRPr>
                        <a:latin typeface="Ovo"/>
                        <a:ea typeface="Ovo"/>
                        <a:cs typeface="Ovo"/>
                        <a:sym typeface="Ov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2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Methodology</a:t>
            </a:r>
            <a:endParaRPr sz="700"/>
          </a:p>
        </p:txBody>
      </p:sp>
      <p:sp>
        <p:nvSpPr>
          <p:cNvPr id="180" name="Google Shape;180;p32"/>
          <p:cNvSpPr txBox="1"/>
          <p:nvPr/>
        </p:nvSpPr>
        <p:spPr>
          <a:xfrm>
            <a:off x="456275" y="1113975"/>
            <a:ext cx="8517000" cy="44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Interface-index level parallelization.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OpenMP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■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Global accumulators use </a:t>
            </a:r>
            <a:r>
              <a:rPr b="1"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reduction 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to avoid data races.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2" marL="13716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■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Theoretically, the workload for each interface cell might vary →</a:t>
            </a:r>
            <a:r>
              <a:rPr b="1" lang="zh-TW" sz="1500">
                <a:latin typeface="Ovo"/>
                <a:ea typeface="Ovo"/>
                <a:cs typeface="Ovo"/>
                <a:sym typeface="Ovo"/>
              </a:rPr>
              <a:t>dynamic </a:t>
            </a:r>
            <a:r>
              <a:rPr b="1" lang="zh-TW" sz="1500">
                <a:latin typeface="Ovo"/>
                <a:ea typeface="Ovo"/>
                <a:cs typeface="Ovo"/>
                <a:sym typeface="Ovo"/>
              </a:rPr>
              <a:t>scheduling</a:t>
            </a:r>
            <a:r>
              <a:rPr lang="zh-TW" sz="1500">
                <a:latin typeface="Ovo"/>
                <a:ea typeface="Ovo"/>
                <a:cs typeface="Ovo"/>
                <a:sym typeface="Ovo"/>
              </a:rPr>
              <a:t> 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Pthread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■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Each thread keeps a</a:t>
            </a:r>
            <a:r>
              <a:rPr b="1"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 local counter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 and we sum them at the end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2" marL="13716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■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Threads was performed manually using a </a:t>
            </a:r>
            <a:r>
              <a:rPr b="1"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static block partitioning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 approach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	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	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81" name="Google Shape;181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9300" y="3347600"/>
            <a:ext cx="6570949" cy="168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Methodology- CUDA</a:t>
            </a:r>
            <a:endParaRPr sz="700"/>
          </a:p>
        </p:txBody>
      </p:sp>
      <p:sp>
        <p:nvSpPr>
          <p:cNvPr id="187" name="Google Shape;187;p33"/>
          <p:cNvSpPr txBox="1"/>
          <p:nvPr/>
        </p:nvSpPr>
        <p:spPr>
          <a:xfrm>
            <a:off x="781050" y="1192200"/>
            <a:ext cx="7738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Thread-per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-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cell model.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●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GPU scheduler automatically packs threads into blocks and warps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4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Other Challenges</a:t>
            </a:r>
            <a:endParaRPr sz="700"/>
          </a:p>
        </p:txBody>
      </p:sp>
      <p:sp>
        <p:nvSpPr>
          <p:cNvPr id="193" name="Google Shape;193;p34"/>
          <p:cNvSpPr txBox="1"/>
          <p:nvPr/>
        </p:nvSpPr>
        <p:spPr>
          <a:xfrm>
            <a:off x="781050" y="1192200"/>
            <a:ext cx="8025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Parallelization Overhead and Trade-off: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Problem: 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Late steps with small 𝑁icells have relatively higher parallization overhead. 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Solution</a:t>
            </a: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 1: Ignore. Total runtime is dominated by early–mid stages, so disabling parallization yields only minor gains.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Solution 2: Disable parallization for tiny Nicells.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194" name="Google Shape;194;p34" title="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375" y="2876225"/>
            <a:ext cx="1845825" cy="185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4" title="LatticeStructure_Time_20_M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1575" y="2876225"/>
            <a:ext cx="1845825" cy="1853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Experiment</a:t>
            </a:r>
            <a:endParaRPr sz="700"/>
          </a:p>
        </p:txBody>
      </p:sp>
      <p:sp>
        <p:nvSpPr>
          <p:cNvPr id="201" name="Google Shape;201;p35"/>
          <p:cNvSpPr txBox="1"/>
          <p:nvPr/>
        </p:nvSpPr>
        <p:spPr>
          <a:xfrm>
            <a:off x="781050" y="1268400"/>
            <a:ext cx="77217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CPU Platform (Serial &amp; OpenMP)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Intel Xeon E5-2650 v3 (20 vCPUs, 32 GB DDR4)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Debian 12, g++ 12.2.0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GPU Platform (CUDA)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NVIDIA Tesla T4 (16 GB GDDR6)	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Google Colab, nvcc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Dataset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Case: 80CR2, hexagonal 2D grid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Input size: from 50×50 up to 510×592 (full-size grid)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6"/>
          <p:cNvSpPr txBox="1"/>
          <p:nvPr/>
        </p:nvSpPr>
        <p:spPr>
          <a:xfrm>
            <a:off x="606125" y="377399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Evalution: Pthread &amp; OpenMP</a:t>
            </a:r>
            <a:endParaRPr sz="700"/>
          </a:p>
        </p:txBody>
      </p:sp>
      <p:sp>
        <p:nvSpPr>
          <p:cNvPr id="207" name="Google Shape;207;p36"/>
          <p:cNvSpPr txBox="1"/>
          <p:nvPr/>
        </p:nvSpPr>
        <p:spPr>
          <a:xfrm>
            <a:off x="606125" y="1268400"/>
            <a:ext cx="34062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Thread scalability: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vo"/>
              <a:buChar char="○"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meet the expectation:</a:t>
            </a:r>
            <a:endParaRPr sz="15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&gt;5× at 8 threads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2–4: near-linear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→ 5–16: flat (memory-bound)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Pthreads and OpenMP perform similarly.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208" name="Google Shape;20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375" y="1268400"/>
            <a:ext cx="4883624" cy="3378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6"/>
          <p:cNvSpPr txBox="1"/>
          <p:nvPr/>
        </p:nvSpPr>
        <p:spPr>
          <a:xfrm>
            <a:off x="-2130300" y="1356850"/>
            <a:ext cx="915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7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Evalution: OpenMP</a:t>
            </a:r>
            <a:endParaRPr sz="700"/>
          </a:p>
        </p:txBody>
      </p:sp>
      <p:sp>
        <p:nvSpPr>
          <p:cNvPr id="215" name="Google Shape;215;p37"/>
          <p:cNvSpPr txBox="1"/>
          <p:nvPr/>
        </p:nvSpPr>
        <p:spPr>
          <a:xfrm>
            <a:off x="959825" y="1894650"/>
            <a:ext cx="535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427" y="1340299"/>
            <a:ext cx="4874157" cy="3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 txBox="1"/>
          <p:nvPr/>
        </p:nvSpPr>
        <p:spPr>
          <a:xfrm>
            <a:off x="1996325" y="4595750"/>
            <a:ext cx="7609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Parallelization overhead</a:t>
            </a:r>
            <a:r>
              <a:rPr lang="zh-TW" sz="16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 → Sweet spot → Memory-bandwidth limit</a:t>
            </a:r>
            <a:endParaRPr>
              <a:latin typeface="Ovo"/>
              <a:ea typeface="Ovo"/>
              <a:cs typeface="Ovo"/>
              <a:sym typeface="Ovo"/>
            </a:endParaRPr>
          </a:p>
        </p:txBody>
      </p:sp>
      <p:sp>
        <p:nvSpPr>
          <p:cNvPr id="218" name="Google Shape;218;p37"/>
          <p:cNvSpPr txBox="1"/>
          <p:nvPr/>
        </p:nvSpPr>
        <p:spPr>
          <a:xfrm>
            <a:off x="781050" y="1108445"/>
            <a:ext cx="671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Data size scalability: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/>
        </p:nvSpPr>
        <p:spPr>
          <a:xfrm>
            <a:off x="781050" y="41627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Evalution: </a:t>
            </a: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CUDA</a:t>
            </a:r>
            <a:endParaRPr sz="700"/>
          </a:p>
        </p:txBody>
      </p:sp>
      <p:sp>
        <p:nvSpPr>
          <p:cNvPr id="224" name="Google Shape;224;p38"/>
          <p:cNvSpPr txBox="1"/>
          <p:nvPr/>
        </p:nvSpPr>
        <p:spPr>
          <a:xfrm>
            <a:off x="781050" y="1268400"/>
            <a:ext cx="33867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Data size scalability: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Full size input.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-323850" lvl="1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○"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Thousands of lightweight GPU threads and high bandwidth GDDR for neighbor lookups 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9144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>
                <a:latin typeface="Ovo"/>
                <a:ea typeface="Ovo"/>
                <a:cs typeface="Ovo"/>
                <a:sym typeface="Ovo"/>
              </a:rPr>
              <a:t>→ up to 246× speedup.</a:t>
            </a:r>
            <a:endParaRPr sz="1500"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Ovo"/>
              <a:ea typeface="Ovo"/>
              <a:cs typeface="Ovo"/>
              <a:sym typeface="Ovo"/>
            </a:endParaRPr>
          </a:p>
        </p:txBody>
      </p:sp>
      <p:pic>
        <p:nvPicPr>
          <p:cNvPr id="225" name="Google Shape;225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5225" y="1268400"/>
            <a:ext cx="5026249" cy="347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9"/>
          <p:cNvSpPr txBox="1"/>
          <p:nvPr/>
        </p:nvSpPr>
        <p:spPr>
          <a:xfrm>
            <a:off x="781050" y="559149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Conclusion</a:t>
            </a:r>
            <a:endParaRPr sz="700"/>
          </a:p>
        </p:txBody>
      </p:sp>
      <p:sp>
        <p:nvSpPr>
          <p:cNvPr id="231" name="Google Shape;231;p39"/>
          <p:cNvSpPr txBox="1"/>
          <p:nvPr/>
        </p:nvSpPr>
        <p:spPr>
          <a:xfrm>
            <a:off x="781050" y="1649400"/>
            <a:ext cx="7821900" cy="18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SzPts val="1500"/>
              <a:buFont typeface="Ovo"/>
              <a:buChar char="●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We successfully parallelized the CA microstructure simulator using OpenMP, Pthreads, and CUDA.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42900" lvl="0" marL="4572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●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Performance: &gt;5× speedup on an 8-core CPU, with scalability across input size and thread count; up to 246× per step on the GPU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PMingLiu"/>
              <a:ea typeface="PMingLiu"/>
              <a:cs typeface="PMingLiu"/>
              <a:sym typeface="PMingLiu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0"/>
          <p:cNvSpPr txBox="1"/>
          <p:nvPr/>
        </p:nvSpPr>
        <p:spPr>
          <a:xfrm>
            <a:off x="781050" y="511524"/>
            <a:ext cx="6711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Contribution</a:t>
            </a:r>
            <a:endParaRPr sz="700"/>
          </a:p>
        </p:txBody>
      </p:sp>
      <p:sp>
        <p:nvSpPr>
          <p:cNvPr id="237" name="Google Shape;237;p40"/>
          <p:cNvSpPr txBox="1"/>
          <p:nvPr/>
        </p:nvSpPr>
        <p:spPr>
          <a:xfrm>
            <a:off x="781050" y="1649400"/>
            <a:ext cx="67113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●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314553031 賴均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429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○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proposal, implementation, analysis, presentation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●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314581003 林奇毅 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429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○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proposal, implementation, analysis, presentation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42900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●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314551115 楊淳嵋</a:t>
            </a:r>
            <a:endParaRPr sz="1800">
              <a:solidFill>
                <a:schemeClr val="dk1"/>
              </a:solidFill>
              <a:latin typeface="Ovo"/>
              <a:ea typeface="Ovo"/>
              <a:cs typeface="Ovo"/>
              <a:sym typeface="Ovo"/>
            </a:endParaRPr>
          </a:p>
          <a:p>
            <a:pPr indent="-342900" lvl="1" marL="9144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o"/>
              <a:buChar char="○"/>
            </a:pPr>
            <a:r>
              <a:rPr lang="zh-TW" sz="1800">
                <a:solidFill>
                  <a:schemeClr val="dk1"/>
                </a:solidFill>
                <a:latin typeface="Ovo"/>
                <a:ea typeface="Ovo"/>
                <a:cs typeface="Ovo"/>
                <a:sym typeface="Ovo"/>
              </a:rPr>
              <a:t>proposal, implementation, analysis, presentation</a:t>
            </a:r>
            <a:endParaRPr sz="700">
              <a:latin typeface="Ovo"/>
              <a:ea typeface="Ovo"/>
              <a:cs typeface="Ovo"/>
              <a:sym typeface="Ov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1"/>
          <p:cNvSpPr txBox="1"/>
          <p:nvPr/>
        </p:nvSpPr>
        <p:spPr>
          <a:xfrm>
            <a:off x="1934702" y="2263957"/>
            <a:ext cx="5274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000">
                <a:solidFill>
                  <a:srgbClr val="A86D3A"/>
                </a:solidFill>
                <a:latin typeface="Ovo"/>
                <a:ea typeface="Ovo"/>
                <a:cs typeface="Ovo"/>
                <a:sym typeface="Ovo"/>
              </a:rPr>
              <a:t>Thank you!</a:t>
            </a:r>
            <a:endParaRPr sz="7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